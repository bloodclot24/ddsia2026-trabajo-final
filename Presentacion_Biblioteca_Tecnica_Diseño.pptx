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b="1">
                <a:solidFill>
                  <a:srgbClr val="00FFCC"/>
                </a:solidFill>
              </a:rPr>
              <a:t>Asistente de Biblioteca Técnica con IA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>
                <a:solidFill>
                  <a:srgbClr val="FFFFFF"/>
                </a:solidFill>
              </a:rPr>
              <a:t>Implementación DevSecOps y RAG Local</a:t>
            </a:r>
          </a:p>
          <a:p>
            <a:r>
              <a:rPr>
                <a:solidFill>
                  <a:srgbClr val="FFFFFF"/>
                </a:solidFill>
              </a:rPr>
              <a:t>Presentador: Guido Ygounet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22386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00FFCC"/>
                </a:solidFill>
              </a:rPr>
              <a:t>Contexto y Alcance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ext cx="4572000" cy="0"/>
          </a:xfrm>
        </p:spPr>
        <p:txBody>
          <a:bodyPr/>
          <a:lstStyle/>
          <a:p>
            <a:r>
              <a:rPr>
                <a:solidFill>
                  <a:srgbClr val="FFFFFF"/>
                </a:solidFill>
              </a:rPr>
              <a:t>Despliegue de RAG para documentación de infraestructura.</a:t>
            </a:r>
          </a:p>
          <a:p>
            <a:r>
              <a:rPr>
                <a:solidFill>
                  <a:srgbClr val="FFFFFF"/>
                </a:solidFill>
              </a:rPr>
              <a:t>Zero Data Exfiltration: Modelo local.</a:t>
            </a:r>
          </a:p>
          <a:p>
            <a:r>
              <a:rPr>
                <a:solidFill>
                  <a:srgbClr val="FFFFFF"/>
                </a:solidFill>
              </a:rPr>
              <a:t>Contenedorización inmutable.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828800"/>
            <a:ext cx="3657600" cy="243780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00FFCC"/>
                </a:solidFill>
              </a:rPr>
              <a:t>Decisiones Técnicas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ext cx="5029200" cy="0"/>
          </a:xfrm>
        </p:spPr>
        <p:txBody>
          <a:bodyPr/>
          <a:lstStyle/>
          <a:p>
            <a:r>
              <a:rPr>
                <a:solidFill>
                  <a:srgbClr val="FFFFFF"/>
                </a:solidFill>
              </a:rPr>
              <a:t>Backend: FastAPI</a:t>
            </a:r>
          </a:p>
          <a:p>
            <a:r>
              <a:rPr>
                <a:solidFill>
                  <a:srgbClr val="FFFFFF"/>
                </a:solidFill>
              </a:rPr>
              <a:t>Motor RAG: LangChain + ChromaDB</a:t>
            </a:r>
          </a:p>
          <a:p>
            <a:r>
              <a:rPr>
                <a:solidFill>
                  <a:srgbClr val="FFFFFF"/>
                </a:solidFill>
              </a:rPr>
              <a:t>LLM: Mistral (Ollama) en CPU local</a:t>
            </a:r>
          </a:p>
          <a:p>
            <a:r>
              <a:rPr>
                <a:solidFill>
                  <a:srgbClr val="FFFFFF"/>
                </a:solidFill>
              </a:rPr>
              <a:t>Infraestructura: Docker Compose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371600"/>
            <a:ext cx="3200400" cy="180022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00FFCC"/>
                </a:solidFill>
              </a:rPr>
              <a:t>Modelo de Amenazas (STRIDE)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>
                <a:solidFill>
                  <a:srgbClr val="FFFFFF"/>
                </a:solidFill>
              </a:rPr>
              <a:t>Spoofing: Autenticación X-API-Key</a:t>
            </a:r>
          </a:p>
          <a:p>
            <a:r>
              <a:rPr>
                <a:solidFill>
                  <a:srgbClr val="FFFFFF"/>
                </a:solidFill>
              </a:rPr>
              <a:t>DoS: Rate Limiting estricto (5 req/min)</a:t>
            </a:r>
          </a:p>
          <a:p>
            <a:r>
              <a:rPr>
                <a:solidFill>
                  <a:srgbClr val="FFFFFF"/>
                </a:solidFill>
              </a:rPr>
              <a:t>Integridad: Filtros anti-Prompt Injection</a:t>
            </a:r>
          </a:p>
          <a:p>
            <a:r>
              <a:rPr>
                <a:solidFill>
                  <a:srgbClr val="FFFFFF"/>
                </a:solidFill>
              </a:rPr>
              <a:t>Hardening: Ejecución sin privilegios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0" y="4114800"/>
            <a:ext cx="274320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00FFCC"/>
                </a:solidFill>
              </a:rPr>
              <a:t>Resultados CI/CD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ext cx="4572000" cy="0"/>
          </a:xfrm>
        </p:spPr>
        <p:txBody>
          <a:bodyPr/>
          <a:lstStyle/>
          <a:p>
            <a:r>
              <a:rPr>
                <a:solidFill>
                  <a:srgbClr val="FFFFFF"/>
                </a:solidFill>
              </a:rPr>
              <a:t>🛡️ Gitleaks: ✅ PASSED</a:t>
            </a:r>
          </a:p>
          <a:p>
            <a:r>
              <a:rPr>
                <a:solidFill>
                  <a:srgbClr val="FFFFFF"/>
                </a:solidFill>
              </a:rPr>
              <a:t>🛡️ Bandit: ✅ PASSED</a:t>
            </a:r>
          </a:p>
          <a:p>
            <a:r>
              <a:rPr>
                <a:solidFill>
                  <a:srgbClr val="FFFFFF"/>
                </a:solidFill>
              </a:rPr>
              <a:t>🛡️ Hadolint: ✅ PASSED</a:t>
            </a:r>
          </a:p>
          <a:p>
            <a:r>
              <a:rPr>
                <a:solidFill>
                  <a:srgbClr val="FFFFFF"/>
                </a:solidFill>
              </a:rPr>
              <a:t>🛡️ Trivy: No detectado</a:t>
            </a:r>
          </a:p>
          <a:p>
            <a:r>
              <a:rPr>
                <a:solidFill>
                  <a:srgbClr val="FFFFFF"/>
                </a:solidFill>
              </a:rPr>
              <a:t>🧪 Pytest: No detectado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2286000"/>
            <a:ext cx="3657600" cy="309146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