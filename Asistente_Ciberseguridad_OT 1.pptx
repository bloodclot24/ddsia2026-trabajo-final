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una solución segura, local y reproducible para acelerar el acceso a normativa IEC 62443 en entornos OT.,Mensaje clave: los datos técnicos permanecen dentro de la infraestructura local.,Tiempo sugerido: 45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la normativa es extensa y el acceso manual puede demorar la toma de decisiones.,Alcance: asistente de consulta, no sistema de control industrial ni sustituto de validación experta.,Tiempo sugerido: 60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ocho bloques sin entrar todavía en implementación.,Destacar que los requisitos funcionales y no funcionales están conectados.,Tiempo sugerido: 55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de izquierda a derecha: usuario OT, gateway de seguridad, API, RAG, base vectorial y LLM local.,Aclarar que ChromaDB y los PDFs están dentro del entorno local.,Tiempo sugerido: 90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Decisión central: ejecutar la inferencia en CPU dentro del edge.,Trade-off: menor elasticidad y mayor latencia potencial, pero control total de datos.,Tiempo sugerido: 75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STRIDE conectó amenazas con controles implementados.,Ser transparente con riesgos residuales: TLS, límites de recursos y riesgos propios de IA.,Tiempo sugerido: 90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concepto shift-left: detectar fallas antes de publicar imágenes.,Resultado del informe: Trivy evaluó Debian 13.6 y 85 dependencias Python sin vulnerabilidades ni secretos.,Tiempo sugerido: 75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sugerida, 90 segundos:,1. Mostrar contenedores activos.,2. Ejecutar una consulta legítima sobre IEC 62443 con X-API-Key.,3. Mostrar la respuesta y el log del evento.,4. Enviar una petición sin clave o una frase de prompt injection para evidenciar el bloqueo.,Plan B: usar una captura o salida previamente preparada si el modelo tarda en iniciar.,Tiempo sugerido: 105 segundos.,,[Sources],- Contenido basado en el archivo proporcionado: informe_final.md.,- Visual on this slide was generated with Microsoft Copilot.,[/Sources]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0D7FF"/>
          </a:solidFill>
          <a:ln w="12700">
            <a:solidFill>
              <a:srgbClr val="20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82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ASISTENTE DE CIBERSEGURIDAD 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D82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RAG • DevSecOps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0d5b453676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712">
              <a:alpha val="72000"/>
            </a:srgbClr>
          </a:solidFill>
          <a:ln w="12700">
            <a:solidFill>
              <a:srgbClr val="0207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50B18">
              <a:alpha val="88000"/>
            </a:srgbClr>
          </a:solidFill>
          <a:ln w="12700">
            <a:solidFill>
              <a:srgbClr val="050B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" y="566928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20D7FF">
              <a:alpha val="18000"/>
            </a:srgbClr>
          </a:solidFill>
          <a:ln w="12700">
            <a:solidFill>
              <a:srgbClr val="20D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7512" y="64008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0D7FF"/>
                </a:solidFill>
              </a:rPr>
              <a:t>TRABAJO FINAL INTEGRADOR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1430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8FF"/>
                </a:solidFill>
              </a:rPr>
              <a:t>Asistente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4F8FF"/>
                </a:solidFill>
              </a:rPr>
              <a:t>Ciberseguridad OT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21792" y="2788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D5E8"/>
                </a:solidFill>
              </a:rPr>
              <a:t>IA local para consultar IEC 62443 sin exponer datos de la planta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" y="3822192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D7FF"/>
                </a:solidFill>
              </a:rPr>
              <a:t>FastAPI  |  RAG  |  Ollama + Mistral  |  Docker  |  DevSecOps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5376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Guido Ygounet – Agosto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D7FF"/>
                </a:solidFill>
              </a:rPr>
              <a:t>01 · CONTEXTO Y ALCANCE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F"/>
                </a:solidFill>
              </a:rPr>
              <a:t>El problema: conocimiento crítico, acceso lento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Una consulta técnica no debería obligar a enviar información OT a servicios externos.</a:t>
            </a:r>
            <a:endParaRPr lang="en-US" sz="1200" dirty="0"/>
          </a:p>
        </p:txBody>
      </p:sp>
      <p:pic>
        <p:nvPicPr>
          <p:cNvPr id="5" name="Image 0" descr="/mnt/data/b8e31c6195.jpeg"/>
          <p:cNvPicPr>
            <a:picLocks noChangeAspect="1"/>
          </p:cNvPicPr>
          <p:nvPr/>
        </p:nvPicPr>
        <p:blipFill>
          <a:blip r:embed="rId3"/>
          <a:srcRect l="12596" r="12596"/>
          <a:stretch/>
        </p:blipFill>
        <p:spPr>
          <a:xfrm>
            <a:off x="6812280" y="1527048"/>
            <a:ext cx="4873752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527048"/>
            <a:ext cx="4873752" cy="4343400"/>
          </a:xfrm>
          <a:prstGeom prst="roundRect">
            <a:avLst>
              <a:gd name="adj" fmla="val 1684"/>
            </a:avLst>
          </a:prstGeom>
          <a:solidFill>
            <a:srgbClr val="07101F">
              <a:alpha val="26000"/>
            </a:srgbClr>
          </a:solidFill>
          <a:ln w="12700">
            <a:solidFill>
              <a:srgbClr val="20D7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6928" y="160020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20D7FF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6928" y="1600200"/>
            <a:ext cx="45720" cy="1097280"/>
          </a:xfrm>
          <a:prstGeom prst="rect">
            <a:avLst/>
          </a:prstGeom>
          <a:solidFill>
            <a:srgbClr val="20D7FF"/>
          </a:solidFill>
          <a:ln w="12700">
            <a:solidFill>
              <a:srgbClr val="20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8096" y="176479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Necesidad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2130552"/>
            <a:ext cx="532180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Acceso ágil a IEC 62443 para responder preguntas operativas y de ciberseguridad.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288036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6928" y="2880360"/>
            <a:ext cx="4572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8096" y="3044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Restricción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8096" y="3410712"/>
            <a:ext cx="532180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Confidencialidad de la red OT: inferencia, embeddings y documentos permanecen en el edge.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" y="416052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36E39A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" y="4160520"/>
            <a:ext cx="45720" cy="1097280"/>
          </a:xfrm>
          <a:prstGeom prst="rect">
            <a:avLst/>
          </a:prstGeom>
          <a:solidFill>
            <a:srgbClr val="36E39A"/>
          </a:solidFill>
          <a:ln w="12700">
            <a:solidFill>
              <a:srgbClr val="36E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8096" y="432511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Alcance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8096" y="4690872"/>
            <a:ext cx="532180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API HTTP + RAG local + controles de acceso + observabilidad + pipeline DevSecOps.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132320" y="52578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20D7FF">
              <a:alpha val="18000"/>
            </a:srgbClr>
          </a:solidFill>
          <a:ln w="12700">
            <a:solidFill>
              <a:srgbClr val="20D7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05472" y="533095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0D7FF"/>
                </a:solidFill>
              </a:rPr>
              <a:t>EDGE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458200" y="52578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531352" y="533095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IEC 62443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784080" y="5257800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36E39A">
              <a:alpha val="18000"/>
            </a:srgbClr>
          </a:solidFill>
          <a:ln w="12700">
            <a:solidFill>
              <a:srgbClr val="36E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57232" y="533095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E39A"/>
                </a:solidFill>
              </a:rPr>
              <a:t>ZERO EXFIL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D7FF"/>
                </a:solidFill>
              </a:rPr>
              <a:t>02 · COBERTURA FUNCIONAL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F"/>
                </a:solidFill>
              </a:rPr>
              <a:t>Qué se construyó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Un producto mínimo completo, con seguridad integrada desde el diseño.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20D7FF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45720" cy="1536192"/>
          </a:xfrm>
          <a:prstGeom prst="rect">
            <a:avLst/>
          </a:prstGeom>
          <a:solidFill>
            <a:srgbClr val="20D7FF"/>
          </a:solidFill>
          <a:ln w="12700">
            <a:solidFill>
              <a:srgbClr val="20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API HTTP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FastAPI + Pydantic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9856" y="1664208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19856" y="1664208"/>
            <a:ext cx="45720" cy="15361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21024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RAG local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1024" y="2194560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PDFs + MiniLM + ChromaDB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1664208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36E39A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72784" y="1664208"/>
            <a:ext cx="45720" cy="1536192"/>
          </a:xfrm>
          <a:prstGeom prst="rect">
            <a:avLst/>
          </a:prstGeom>
          <a:solidFill>
            <a:srgbClr val="36E39A"/>
          </a:solidFill>
          <a:ln w="12700">
            <a:solidFill>
              <a:srgbClr val="36E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73952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LLM local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2194560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Ollama + Mistral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25712" y="1664208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FFB454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25712" y="1664208"/>
            <a:ext cx="45720" cy="153619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0" y="182880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Despliegue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0" y="2194560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Dockerfile + Compose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20D7FF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3611880"/>
            <a:ext cx="45720" cy="1536192"/>
          </a:xfrm>
          <a:prstGeom prst="rect">
            <a:avLst/>
          </a:prstGeom>
          <a:solidFill>
            <a:srgbClr val="20D7FF"/>
          </a:solidFill>
          <a:ln w="12700">
            <a:solidFill>
              <a:srgbClr val="20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8096" y="377647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Acceso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4142232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X-API-Key + 5 req/min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19856" y="3611880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19856" y="3611880"/>
            <a:ext cx="45720" cy="15361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21024" y="377647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Observabilidad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21024" y="4142232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Logs estructurados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72784" y="3611880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36E39A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72784" y="3611880"/>
            <a:ext cx="45720" cy="1536192"/>
          </a:xfrm>
          <a:prstGeom prst="rect">
            <a:avLst/>
          </a:prstGeom>
          <a:solidFill>
            <a:srgbClr val="36E39A"/>
          </a:solidFill>
          <a:ln w="12700">
            <a:solidFill>
              <a:srgbClr val="36E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73952" y="377647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Seguridad IA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73952" y="4142232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Guardrails anti-inyección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25712" y="3611880"/>
            <a:ext cx="2578608" cy="1536192"/>
          </a:xfrm>
          <a:prstGeom prst="roundRect">
            <a:avLst>
              <a:gd name="adj" fmla="val 4762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FFB454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25712" y="3611880"/>
            <a:ext cx="45720" cy="153619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326880" y="377647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Hardening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26880" y="4142232"/>
            <a:ext cx="22311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Slim + appuser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669280"/>
            <a:ext cx="11137392" cy="438912"/>
          </a:xfrm>
          <a:prstGeom prst="roundRect">
            <a:avLst>
              <a:gd name="adj" fmla="val 12500"/>
            </a:avLst>
          </a:prstGeom>
          <a:solidFill>
            <a:srgbClr val="122541"/>
          </a:solidFill>
          <a:ln w="12700">
            <a:solidFill>
              <a:srgbClr val="2237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5797296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8FF"/>
                </a:solidFill>
              </a:rPr>
              <a:t>Resultado: una cadena de consulta local, reproducible, observable y protegida.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D7FF"/>
                </a:solidFill>
              </a:rPr>
              <a:t>03 · 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F"/>
                </a:solidFill>
              </a:rPr>
              <a:t>Flujo de una consulta en el edge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Dos contenedores principales y una ruta de datos controlada.</a:t>
            </a:r>
            <a:endParaRPr lang="en-US" sz="1200" dirty="0"/>
          </a:p>
        </p:txBody>
      </p:sp>
      <p:pic>
        <p:nvPicPr>
          <p:cNvPr id="5" name="Image 0" descr="/mnt/data/53ed72073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1481328"/>
            <a:ext cx="706374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22208" y="1600200"/>
            <a:ext cx="3154680" cy="4279392"/>
          </a:xfrm>
          <a:prstGeom prst="roundRect">
            <a:avLst>
              <a:gd name="adj" fmla="val 2319"/>
            </a:avLst>
          </a:prstGeom>
          <a:solidFill>
            <a:srgbClr val="0E1B31">
              <a:alpha val="98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96528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8FF"/>
                </a:solidFill>
              </a:rPr>
              <a:t>Secuencia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796528" y="233172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96528" y="241401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28116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POST /ask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796528" y="295351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96528" y="30358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281160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Autenticación + límites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96528" y="3575304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96528" y="36576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281160" y="3639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Recuperación semántica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96528" y="419709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96528" y="427939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281160" y="4261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Inferencia Mistral local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96528" y="4818888"/>
            <a:ext cx="347472" cy="347472"/>
          </a:xfrm>
          <a:prstGeom prst="ellipse">
            <a:avLst/>
          </a:prstGeom>
          <a:solidFill>
            <a:srgbClr val="36E39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96528" y="49011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281160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Respuesta + logs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D7FF"/>
                </a:solidFill>
              </a:rPr>
              <a:t>04 · DECISIONES TÉCNICAS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F"/>
                </a:solidFill>
              </a:rPr>
              <a:t>Por qué estas tecnologías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Se privilegió privacidad, simplicidad operativa y reproducibilidad.</a:t>
            </a:r>
            <a:endParaRPr lang="en-US" sz="1200" dirty="0"/>
          </a:p>
        </p:txBody>
      </p:sp>
      <p:pic>
        <p:nvPicPr>
          <p:cNvPr id="5" name="Image 0" descr="/mnt/data/f9e4dca9eb.jpeg"/>
          <p:cNvPicPr>
            <a:picLocks noChangeAspect="1"/>
          </p:cNvPicPr>
          <p:nvPr/>
        </p:nvPicPr>
        <p:blipFill>
          <a:blip r:embed="rId3"/>
          <a:srcRect l="15657" r="15657"/>
          <a:stretch/>
        </p:blipFill>
        <p:spPr>
          <a:xfrm>
            <a:off x="566928" y="1536192"/>
            <a:ext cx="46634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1536192"/>
            <a:ext cx="6144768" cy="914400"/>
          </a:xfrm>
          <a:prstGeom prst="roundRect">
            <a:avLst>
              <a:gd name="adj" fmla="val 8000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36E39A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32120" y="1536192"/>
            <a:ext cx="45720" cy="914400"/>
          </a:xfrm>
          <a:prstGeom prst="rect">
            <a:avLst/>
          </a:prstGeom>
          <a:solidFill>
            <a:srgbClr val="36E39A"/>
          </a:solidFill>
          <a:ln w="12700">
            <a:solidFill>
              <a:srgbClr val="36E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33288" y="1700784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Local-first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33288" y="2066544"/>
            <a:ext cx="5797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Ollama + Mistral evita dependencia de nube y costos por token.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32120" y="2633472"/>
            <a:ext cx="6144768" cy="914400"/>
          </a:xfrm>
          <a:prstGeom prst="roundRect">
            <a:avLst>
              <a:gd name="adj" fmla="val 8000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32120" y="2633472"/>
            <a:ext cx="4572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33288" y="2798064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RAG modular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33288" y="3163824"/>
            <a:ext cx="5797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LangChain coordina ingestión, recuperación y generación.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32120" y="3730752"/>
            <a:ext cx="6144768" cy="914400"/>
          </a:xfrm>
          <a:prstGeom prst="roundRect">
            <a:avLst>
              <a:gd name="adj" fmla="val 8000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20D7FF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532120" y="3730752"/>
            <a:ext cx="45720" cy="914400"/>
          </a:xfrm>
          <a:prstGeom prst="rect">
            <a:avLst/>
          </a:prstGeom>
          <a:solidFill>
            <a:srgbClr val="20D7FF"/>
          </a:solidFill>
          <a:ln w="12700">
            <a:solidFill>
              <a:srgbClr val="20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33288" y="3895344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API tipada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33288" y="4261104"/>
            <a:ext cx="5797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FastAPI + Pydantic simplifica contrato, validación y pruebas.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32120" y="4828032"/>
            <a:ext cx="6144768" cy="914400"/>
          </a:xfrm>
          <a:prstGeom prst="roundRect">
            <a:avLst>
              <a:gd name="adj" fmla="val 8000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FFB454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532120" y="4828032"/>
            <a:ext cx="45720" cy="9144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33288" y="4992624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Contenedores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33288" y="5358384"/>
            <a:ext cx="57972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Docker Compose unifica API, almacenamiento vectorial y LLM.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577840" y="589788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454"/>
                </a:solidFill>
              </a:rPr>
              <a:t>Trade-off principal: privacidad superior a cambio de consumo local de CPU/RAM.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D7FF"/>
                </a:solidFill>
              </a:rPr>
              <a:t>05 · SEGURIDAD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F"/>
                </a:solidFill>
              </a:rPr>
              <a:t>Defensa en profundidad guiada por STRIDE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Controles preventivos, detectivos y de contención alrededor de la API y el modelo.</a:t>
            </a:r>
            <a:endParaRPr lang="en-US" sz="1200" dirty="0"/>
          </a:p>
        </p:txBody>
      </p:sp>
      <p:pic>
        <p:nvPicPr>
          <p:cNvPr id="5" name="Image 0" descr="/mnt/data/e1151131eb.jpeg"/>
          <p:cNvPicPr>
            <a:picLocks noChangeAspect="1"/>
          </p:cNvPicPr>
          <p:nvPr/>
        </p:nvPicPr>
        <p:blipFill>
          <a:blip r:embed="rId3"/>
          <a:srcRect l="14646" r="14646"/>
          <a:stretch/>
        </p:blipFill>
        <p:spPr>
          <a:xfrm>
            <a:off x="566928" y="1508760"/>
            <a:ext cx="48006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50992" y="159105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20D7FF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50992" y="1591056"/>
            <a:ext cx="45720" cy="841248"/>
          </a:xfrm>
          <a:prstGeom prst="rect">
            <a:avLst/>
          </a:prstGeom>
          <a:solidFill>
            <a:srgbClr val="20D7FF"/>
          </a:solidFill>
          <a:ln w="12700">
            <a:solidFill>
              <a:srgbClr val="20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Spoofing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52160" y="2121408"/>
            <a:ext cx="24414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API Key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0" y="159105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20D7FF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1591056"/>
            <a:ext cx="45720" cy="841248"/>
          </a:xfrm>
          <a:prstGeom prst="rect">
            <a:avLst/>
          </a:prstGeom>
          <a:solidFill>
            <a:srgbClr val="20D7FF"/>
          </a:solidFill>
          <a:ln w="12700">
            <a:solidFill>
              <a:srgbClr val="20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87968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Tampering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87968" y="2121408"/>
            <a:ext cx="24414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Inmutabilidad + RO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50992" y="264261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50992" y="2642616"/>
            <a:ext cx="45720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2160" y="2807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Repudiation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3172968"/>
            <a:ext cx="24414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Logs estructurados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686800" y="264261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0" y="2642616"/>
            <a:ext cx="45720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887968" y="2807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Info disclosure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887968" y="3172968"/>
            <a:ext cx="24414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LLM y embeddings locales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50992" y="369417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36E39A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50992" y="3694176"/>
            <a:ext cx="45720" cy="841248"/>
          </a:xfrm>
          <a:prstGeom prst="rect">
            <a:avLst/>
          </a:prstGeom>
          <a:solidFill>
            <a:srgbClr val="36E39A"/>
          </a:solidFill>
          <a:ln w="12700">
            <a:solidFill>
              <a:srgbClr val="36E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52160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DoS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52160" y="4224528"/>
            <a:ext cx="24414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5 solicitudes/min/IP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686800" y="369417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E1B31">
              <a:alpha val="97000"/>
            </a:srgbClr>
          </a:solidFill>
          <a:ln w="12700">
            <a:solidFill>
              <a:srgbClr val="36E39A">
                <a:alpha val="40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686800" y="3694176"/>
            <a:ext cx="45720" cy="841248"/>
          </a:xfrm>
          <a:prstGeom prst="rect">
            <a:avLst/>
          </a:prstGeom>
          <a:solidFill>
            <a:srgbClr val="36E39A"/>
          </a:solidFill>
          <a:ln w="12700">
            <a:solidFill>
              <a:srgbClr val="36E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887968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Elevation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887968" y="4224528"/>
            <a:ext cx="24414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Usuario appuser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650992" y="4892040"/>
            <a:ext cx="5824728" cy="987552"/>
          </a:xfrm>
          <a:prstGeom prst="roundRect">
            <a:avLst>
              <a:gd name="adj" fmla="val 7407"/>
            </a:avLst>
          </a:prstGeom>
          <a:solidFill>
            <a:srgbClr val="35192A">
              <a:alpha val="92000"/>
            </a:srgbClr>
          </a:solidFill>
          <a:ln w="12700">
            <a:solidFill>
              <a:srgbClr val="FF5C7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70448" y="51023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C7A"/>
                </a:solidFill>
              </a:rPr>
              <a:t>Riesgo residual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406640" y="5038344"/>
            <a:ext cx="3776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6DE"/>
                </a:solidFill>
              </a:rPr>
              <a:t>HTTP sin TLS • límites Docker pendientes • jailbreaks, alucinaciones y poisoning de contexto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D7FF"/>
                </a:solidFill>
              </a:rPr>
              <a:t>06 · DESARROLLO SEGURO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F"/>
                </a:solidFill>
              </a:rPr>
              <a:t>DevSecOps: seguridad antes del despliegue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Cada cambio atraviesa controles automáticos de secretos, código, contenedor y ejecución.</a:t>
            </a:r>
            <a:endParaRPr lang="en-US" sz="1200" dirty="0"/>
          </a:p>
        </p:txBody>
      </p:sp>
      <p:pic>
        <p:nvPicPr>
          <p:cNvPr id="5" name="Image 0" descr="/mnt/data/1bb965f2fe.jpeg"/>
          <p:cNvPicPr>
            <a:picLocks noChangeAspect="1"/>
          </p:cNvPicPr>
          <p:nvPr/>
        </p:nvPicPr>
        <p:blipFill>
          <a:blip r:embed="rId3"/>
          <a:srcRect l="1852" r="1852"/>
          <a:stretch/>
        </p:blipFill>
        <p:spPr>
          <a:xfrm>
            <a:off x="566928" y="1508760"/>
            <a:ext cx="653796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24928" y="160020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0E1B31"/>
          </a:solidFill>
          <a:ln w="12700">
            <a:solidFill>
              <a:srgbClr val="20D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07808" y="17556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65008" y="17190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Gitleaks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0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Secretos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24928" y="2414016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0E1B31"/>
          </a:solidFill>
          <a:ln w="12700">
            <a:solidFill>
              <a:srgbClr val="20D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07808" y="2569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65008" y="25328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Bandit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26880" y="25511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SAST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24928" y="3227832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0E1B31"/>
          </a:solidFill>
          <a:ln w="12700">
            <a:solidFill>
              <a:srgbClr val="20D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07808" y="33832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65008" y="33467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Hadolint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326880" y="33649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Docker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24928" y="4041648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0E1B31"/>
          </a:solidFill>
          <a:ln w="12700">
            <a:solidFill>
              <a:srgbClr val="20D7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607808" y="41970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65008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Trivy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326880" y="41788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SCA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24928" y="4855464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0E1B31"/>
          </a:solidFill>
          <a:ln w="12700">
            <a:solidFill>
              <a:srgbClr val="36E39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607808" y="50109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65008" y="49743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ZAP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26880" y="4992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DAST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70648" y="56692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8CE"/>
                </a:solidFill>
              </a:rPr>
              <a:t>Resultado reportado por Trivy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81160" y="5641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6E39A"/>
                </a:solidFill>
              </a:rPr>
              <a:t>0 vulnerabilidades  •  0 secretos  •  CLEAN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D7FF"/>
                </a:solidFill>
              </a:rPr>
              <a:t>07 · DEMOSTRACIÓN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F"/>
                </a:solidFill>
              </a:rPr>
              <a:t>Una consulta segura, de punta a punta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La demo confirma autenticación, RAG local, respuesta y trazabilidad.</a:t>
            </a:r>
            <a:endParaRPr lang="en-US" sz="1200" dirty="0"/>
          </a:p>
        </p:txBody>
      </p:sp>
      <p:pic>
        <p:nvPicPr>
          <p:cNvPr id="5" name="Image 0" descr="/mnt/data/c9675c17b3.jpeg"/>
          <p:cNvPicPr>
            <a:picLocks noChangeAspect="1"/>
          </p:cNvPicPr>
          <p:nvPr/>
        </p:nvPicPr>
        <p:blipFill>
          <a:blip r:embed="rId3"/>
          <a:srcRect l="1704" r="1704"/>
          <a:stretch/>
        </p:blipFill>
        <p:spPr>
          <a:xfrm>
            <a:off x="5715000" y="1444752"/>
            <a:ext cx="5961888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572768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16642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8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61872" y="15727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Preparar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15184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docker compose up --build -d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8368" y="2560320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" y="26517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8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61872" y="25603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Consultar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15184" y="256946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POST /ask + X-API-Key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" y="3547872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" y="36393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8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261872" y="35478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Observar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615184" y="355701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respuesta + logs estructurados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" y="4535424"/>
            <a:ext cx="420624" cy="420624"/>
          </a:xfrm>
          <a:prstGeom prst="ellipse">
            <a:avLst/>
          </a:prstGeom>
          <a:solidFill>
            <a:srgbClr val="36E39A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" y="4626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8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61872" y="45354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F"/>
                </a:solidFill>
              </a:rPr>
              <a:t>Probar controles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615184" y="454456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8CE"/>
                </a:solidFill>
              </a:rPr>
              <a:t>401/403, rate limit e inyección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8368" y="5742432"/>
            <a:ext cx="11018520" cy="365760"/>
          </a:xfrm>
          <a:prstGeom prst="roundRect">
            <a:avLst>
              <a:gd name="adj" fmla="val 10000"/>
            </a:avLst>
          </a:prstGeom>
          <a:solidFill>
            <a:srgbClr val="36E39A">
              <a:alpha val="18000"/>
            </a:srgbClr>
          </a:solidFill>
          <a:ln w="12700">
            <a:solidFill>
              <a:srgbClr val="36E39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8680" y="5833872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E39A"/>
                </a:solidFill>
              </a:rPr>
              <a:t>Cierre: IA </a:t>
            </a:r>
            <a:r>
              <a:rPr lang="en-US" sz="1100" b="1" dirty="0" err="1">
                <a:solidFill>
                  <a:srgbClr val="36E39A"/>
                </a:solidFill>
              </a:rPr>
              <a:t>útil</a:t>
            </a:r>
            <a:r>
              <a:rPr lang="en-US" sz="1100" b="1" dirty="0">
                <a:solidFill>
                  <a:srgbClr val="36E39A"/>
                </a:solidFill>
              </a:rPr>
              <a:t> </a:t>
            </a:r>
            <a:r>
              <a:rPr lang="en-US" sz="1100" b="1" dirty="0" err="1">
                <a:solidFill>
                  <a:srgbClr val="36E39A"/>
                </a:solidFill>
              </a:rPr>
              <a:t>cuando</a:t>
            </a:r>
            <a:r>
              <a:rPr lang="en-US" sz="1100" b="1" dirty="0">
                <a:solidFill>
                  <a:srgbClr val="36E39A"/>
                </a:solidFill>
              </a:rPr>
              <a:t> privacidad, control de acceso y seguridad del ciclo de vida son requisitos de arquitectura.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82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1053</Words>
  <Application>Microsoft Macintosh PowerPoint</Application>
  <PresentationFormat>Widescreen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de Ciberseguridad OT</dc:title>
  <dc:subject>Asistente de Ciberseguridad OT</dc:subject>
  <dc:creator>Ygounet, Guido (566)</dc:creator>
  <cp:lastModifiedBy>Guido Ygounet</cp:lastModifiedBy>
  <cp:revision>6</cp:revision>
  <dcterms:created xsi:type="dcterms:W3CDTF">2026-08-29T18:55:31Z</dcterms:created>
  <dcterms:modified xsi:type="dcterms:W3CDTF">2026-08-29T19:18:48Z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4dbb1d-991d-4bbd-aad5-33bac1d8ffaf_Enabled">
    <vt:lpwstr>true</vt:lpwstr>
  </property>
  <property fmtid="{D5CDD505-2E9C-101B-9397-08002B2CF9AE}" pid="3" name="MSIP_Label_924dbb1d-991d-4bbd-aad5-33bac1d8ffaf_SetDate">
    <vt:lpwstr>2026-08-29T19:00:25Z</vt:lpwstr>
  </property>
  <property fmtid="{D5CDD505-2E9C-101B-9397-08002B2CF9AE}" pid="4" name="MSIP_Label_924dbb1d-991d-4bbd-aad5-33bac1d8ffaf_Method">
    <vt:lpwstr>Standard</vt:lpwstr>
  </property>
  <property fmtid="{D5CDD505-2E9C-101B-9397-08002B2CF9AE}" pid="5" name="MSIP_Label_924dbb1d-991d-4bbd-aad5-33bac1d8ffaf_Name">
    <vt:lpwstr>924dbb1d-991d-4bbd-aad5-33bac1d8ffaf</vt:lpwstr>
  </property>
  <property fmtid="{D5CDD505-2E9C-101B-9397-08002B2CF9AE}" pid="6" name="MSIP_Label_924dbb1d-991d-4bbd-aad5-33bac1d8ffaf_SiteId">
    <vt:lpwstr>9652d7c2-1ccf-4940-8151-4a92bd474ed0</vt:lpwstr>
  </property>
  <property fmtid="{D5CDD505-2E9C-101B-9397-08002B2CF9AE}" pid="7" name="MSIP_Label_924dbb1d-991d-4bbd-aad5-33bac1d8ffaf_ActionId">
    <vt:lpwstr>ade33d47-73f7-4de0-ac9f-b29aedd3d791</vt:lpwstr>
  </property>
  <property fmtid="{D5CDD505-2E9C-101B-9397-08002B2CF9AE}" pid="8" name="MSIP_Label_924dbb1d-991d-4bbd-aad5-33bac1d8ffaf_ContentBits">
    <vt:lpwstr>0</vt:lpwstr>
  </property>
  <property fmtid="{D5CDD505-2E9C-101B-9397-08002B2CF9AE}" pid="9" name="MSIP_Label_924dbb1d-991d-4bbd-aad5-33bac1d8ffaf_Tag">
    <vt:lpwstr>10, 3, 0, 2</vt:lpwstr>
  </property>
</Properties>
</file>